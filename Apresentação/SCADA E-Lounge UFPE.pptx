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DM Sans" panose="020F0502020204030204" pitchFamily="2" charset="0"/>
      <p:regular r:id="rId15"/>
      <p:bold r:id="rId16"/>
      <p:italic r:id="rId17"/>
      <p:boldItalic r:id="rId18"/>
    </p:embeddedFont>
    <p:embeddedFont>
      <p:font typeface="DM Sans Medium" panose="020F0502020204030204" pitchFamily="2" charset="0"/>
      <p:regular r:id="rId19"/>
      <p:bold r:id="rId20"/>
      <p:italic r:id="rId21"/>
      <p:boldItalic r:id="rId22"/>
    </p:embeddedFont>
    <p:embeddedFont>
      <p:font typeface="Merriweather" panose="020F0502020204030204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082105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SCADA E-Lounge UFPE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110805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Monitoramento e Gestão do Eletroposto Smart da UFPE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280445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Disciplina</a:t>
            </a:r>
            <a:r>
              <a:rPr lang="en-US" sz="150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: Sistemas </a:t>
            </a:r>
            <a:r>
              <a:rPr lang="en-US" sz="1500" b="0" i="0" u="none" strike="noStrike" cap="none" dirty="0" err="1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Supervisórios</a:t>
            </a:r>
            <a:r>
              <a:rPr lang="en-US" sz="150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1 | Professor: Davidson Marques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3F0DF"/>
                </a:solidFill>
                <a:latin typeface="DM Sans"/>
                <a:sym typeface="DM Sans"/>
              </a:rPr>
              <a:t>Alunos: Julius César F. Romanzeira, Marcos Barros C. Melo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456557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Objetivo Central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98995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Desenvolver um sistema SCADA para aquisição de dados em tempo real, facilitando a gestão operacional do Living Lab de mobilidade elétrica.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85825" y="40948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52500" y="40948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Monitoramento de processos críticos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885825" y="43996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52500" y="43996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Visualização de dados energéticos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85825" y="47044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952500" y="47044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Gestão de alarmes e falhas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85825" y="50092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952500" y="50092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HMI de alta performance focada no operador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Visão Estratégica do Projeto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CF5BC4C-580F-7F41-91F2-6EB1A8E139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1883" y="2249424"/>
            <a:ext cx="5631964" cy="31679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784223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Geração Solar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57250" y="4219723"/>
            <a:ext cx="29210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9,77 kWp instalados com 17 módulos Jinko. Produção média de 1.100 kWh/mês.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4562523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Armazenamento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4635549" y="4219723"/>
            <a:ext cx="29210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Bateria BYD de 13,8 kWh com 12,8 kW de potência. Garantia de operação off-grid.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340822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Carregadores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8413849" y="4219723"/>
            <a:ext cx="292104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Unidade CC de 30kW (WEG) e unidades CA de 22kW/7kW para recarga rápida e semirrápida.</a:t>
            </a:r>
            <a:endParaRPr/>
          </a:p>
        </p:txBody>
      </p:sp>
      <p:pic>
        <p:nvPicPr>
          <p:cNvPr id="120" name="Google Shape;12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79575" y="3133873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81687" y="3133873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7612" y="313387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Especificações Técnicas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571500" y="1585019"/>
            <a:ext cx="52006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Arquitetura On-Grid e Off-Grid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571500" y="3299519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 sistema é capaz de operar isolado da rede utilizando o armazenamento em baterias e a geração solar para manter cargas críticas.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4594919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integração plena permite escoar excedentes para a rede elétrica ou importar energia conforme demanda do sistema de gestão inteligente MicroRED.</a:t>
            </a:r>
            <a:endParaRPr/>
          </a:p>
        </p:txBody>
      </p:sp>
      <p:pic>
        <p:nvPicPr>
          <p:cNvPr id="132" name="Google Shape;13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7"/>
          <p:cNvSpPr txBox="1"/>
          <p:nvPr/>
        </p:nvSpPr>
        <p:spPr>
          <a:xfrm>
            <a:off x="571500" y="2456557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IHM de Alta Performance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571500" y="298995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tela de visão geral apresenta o fluxo energético principal. Utiliza símbolos dinâmicos para indicar o estado de carga (SoC) e a direção do fluxo de potência.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885825" y="40948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952500" y="40948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Status visual dos painéis solares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85825" y="43996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952500" y="43996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Nível de bateria em tempo real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885825" y="47044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952500" y="47044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Indicação de recargas ativas (CC/CA)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Visão Geral (Topologia)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CCBF069-111C-8924-C6A9-126DE8A4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283618"/>
            <a:ext cx="5762625" cy="32414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6334125" y="2456557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Dados do Sistema Solar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6334125" y="298995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Monitoramento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detalhado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dos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controladores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MPPT 250/100 e 150/70.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6334125" y="379005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sistema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apresenta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gráficos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tendência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para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Tensão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 Corrente,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permitindo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prever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produção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diária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detectar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sombreamentos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ou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falhas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strings.</a:t>
            </a:r>
            <a:endParaRPr dirty="0"/>
          </a:p>
        </p:txBody>
      </p:sp>
      <p:sp>
        <p:nvSpPr>
          <p:cNvPr id="159" name="Google Shape;159;p18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Rede e Geração Solar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5D6198F-2F5F-DB25-8B1D-DB10CD287A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92" y="2100417"/>
            <a:ext cx="6007608" cy="337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571500" y="2456557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Unidade BYD e Multiplus II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571500" y="2989957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Detalhamento das variáveis críticas de armazenamento: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885825" y="34852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952500" y="348525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SoC (State of Charge):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Nível percentual de energia.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885825" y="37900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952500" y="379005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Saúde Térmica: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Monitoramento de temperatura interna.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885825" y="43996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439965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Frequência e Tensão: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Estabilidade do barramento CA de saída.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Bateria e Inversor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BB8EE22-A63B-E186-914E-C8A0BCDB5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254076"/>
            <a:ext cx="6003133" cy="33767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0"/>
          <p:cNvSpPr txBox="1"/>
          <p:nvPr/>
        </p:nvSpPr>
        <p:spPr>
          <a:xfrm>
            <a:off x="571500" y="2456557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Gestão WEG (CC e CA)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571500" y="2989957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Diferenciação via hardware: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571500" y="489495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Visualização em tempo real da potência de recarga e tempo estimado.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885825" y="34852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952500" y="348525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Carregador CC (30kW):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Medição direta via Multimedidor Schneider.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885825" y="409485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952500" y="4094857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Carregador CA: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Monitoramento via balanço energético do sistema SINEAX.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Controle de Carregadores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D248915-B07E-AE4B-AFD2-E11FF6E18F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923" y="2008435"/>
            <a:ext cx="6334654" cy="35632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800498"/>
            <a:ext cx="3492549" cy="2588716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1"/>
          <p:cNvSpPr txBox="1"/>
          <p:nvPr/>
        </p:nvSpPr>
        <p:spPr>
          <a:xfrm>
            <a:off x="784223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Limite de 20 Tags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857250" y="4219723"/>
            <a:ext cx="292104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Foco nas variáveis primárias (Tensão/Corrente) de cada um dos 5 equipamentos.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4562523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Cálculos Internos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4635549" y="4219723"/>
            <a:ext cx="292104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Potências calculadas via script ($P=V \times I$) para economizar tags de comunicação.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8340822" y="3724423"/>
            <a:ext cx="306710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Agregação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8413849" y="4219723"/>
            <a:ext cx="2921049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E1E7"/>
                </a:solidFill>
                <a:latin typeface="DM Sans"/>
                <a:ea typeface="DM Sans"/>
                <a:cs typeface="DM Sans"/>
                <a:sym typeface="DM Sans"/>
              </a:rPr>
              <a:t>Uso de tags de "Média" e "Total" dos medidores Schneider e SINEAX.</a:t>
            </a:r>
            <a:endParaRPr/>
          </a:p>
        </p:txBody>
      </p:sp>
      <p:pic>
        <p:nvPicPr>
          <p:cNvPr id="205" name="Google Shape;205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27200" y="3133873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53125" y="3133873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7612" y="313387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Otimização Elipse E3 Demo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2"/>
          <p:cNvSpPr txBox="1"/>
          <p:nvPr/>
        </p:nvSpPr>
        <p:spPr>
          <a:xfrm>
            <a:off x="571500" y="2504182"/>
            <a:ext cx="528637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005088"/>
                </a:solidFill>
                <a:latin typeface="Merriweather"/>
                <a:sym typeface="Merriweather"/>
              </a:rPr>
              <a:t>14</a:t>
            </a:r>
            <a:endParaRPr dirty="0"/>
          </a:p>
        </p:txBody>
      </p:sp>
      <p:sp>
        <p:nvSpPr>
          <p:cNvPr id="215" name="Google Shape;215;p22"/>
          <p:cNvSpPr txBox="1"/>
          <p:nvPr/>
        </p:nvSpPr>
        <p:spPr>
          <a:xfrm>
            <a:off x="571500" y="3942457"/>
            <a:ext cx="52863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Alarmes Totais</a:t>
            </a:r>
            <a:endParaRPr/>
          </a:p>
        </p:txBody>
      </p:sp>
      <p:sp>
        <p:nvSpPr>
          <p:cNvPr id="216" name="Google Shape;216;p22"/>
          <p:cNvSpPr/>
          <p:nvPr/>
        </p:nvSpPr>
        <p:spPr>
          <a:xfrm>
            <a:off x="6334125" y="2656582"/>
            <a:ext cx="5286375" cy="895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2"/>
          <p:cNvSpPr txBox="1"/>
          <p:nvPr/>
        </p:nvSpPr>
        <p:spPr>
          <a:xfrm>
            <a:off x="6477000" y="2799457"/>
            <a:ext cx="50006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4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Alarmes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Discretos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Falhas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Críticas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Equipamento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Off)</a:t>
            </a:r>
            <a:endParaRPr dirty="0"/>
          </a:p>
        </p:txBody>
      </p:sp>
      <p:sp>
        <p:nvSpPr>
          <p:cNvPr id="218" name="Google Shape;218;p22"/>
          <p:cNvSpPr/>
          <p:nvPr/>
        </p:nvSpPr>
        <p:spPr>
          <a:xfrm>
            <a:off x="6334125" y="3647182"/>
            <a:ext cx="5286375" cy="895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6334125" y="2656582"/>
            <a:ext cx="47625" cy="8953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 txBox="1"/>
          <p:nvPr/>
        </p:nvSpPr>
        <p:spPr>
          <a:xfrm>
            <a:off x="6477000" y="3790057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10 Alarmes Analógicos (Sobre-tensão, Alta Temperatura)</a:t>
            </a:r>
            <a:endParaRPr/>
          </a:p>
        </p:txBody>
      </p:sp>
      <p:sp>
        <p:nvSpPr>
          <p:cNvPr id="221" name="Google Shape;221;p22"/>
          <p:cNvSpPr/>
          <p:nvPr/>
        </p:nvSpPr>
        <p:spPr>
          <a:xfrm>
            <a:off x="6334125" y="4637782"/>
            <a:ext cx="5286375" cy="895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6334125" y="3647182"/>
            <a:ext cx="47625" cy="8953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6477000" y="4780657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Histórico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eventos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com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reconhecimento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operador</a:t>
            </a:r>
            <a:endParaRPr dirty="0"/>
          </a:p>
        </p:txBody>
      </p:sp>
      <p:sp>
        <p:nvSpPr>
          <p:cNvPr id="224" name="Google Shape;224;p22"/>
          <p:cNvSpPr/>
          <p:nvPr/>
        </p:nvSpPr>
        <p:spPr>
          <a:xfrm>
            <a:off x="6334125" y="4637782"/>
            <a:ext cx="47625" cy="89535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Segurança e Alertas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56607"/>
            <a:ext cx="5286375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856607"/>
            <a:ext cx="5286375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/>
          <p:nvPr/>
        </p:nvSpPr>
        <p:spPr>
          <a:xfrm>
            <a:off x="857250" y="3409057"/>
            <a:ext cx="49506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Navegação Dinâmica</a:t>
            </a:r>
            <a:endParaRPr/>
          </a:p>
        </p:txBody>
      </p:sp>
      <p:sp>
        <p:nvSpPr>
          <p:cNvPr id="234" name="Google Shape;234;p23"/>
          <p:cNvSpPr txBox="1"/>
          <p:nvPr/>
        </p:nvSpPr>
        <p:spPr>
          <a:xfrm>
            <a:off x="857250" y="3942457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Utilização de barra de menu inferior para troca rápida entre telas de Rede, Bateria e Carregadores.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619875" y="3409057"/>
            <a:ext cx="49506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Segurança de Acesso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6619875" y="3942457"/>
            <a:ext cx="47148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Sistema de Login implementado com níveis de permissão (Usuário vs Admin) para controle de parâmetros.</a:t>
            </a:r>
            <a:endParaRPr/>
          </a:p>
        </p:txBody>
      </p:sp>
      <p:sp>
        <p:nvSpPr>
          <p:cNvPr id="237" name="Google Shape;237;p23"/>
          <p:cNvSpPr txBox="1"/>
          <p:nvPr/>
        </p:nvSpPr>
        <p:spPr>
          <a:xfrm>
            <a:off x="571500" y="95086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Estrutura do Projeto E3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4"/>
          <p:cNvSpPr txBox="1"/>
          <p:nvPr/>
        </p:nvSpPr>
        <p:spPr>
          <a:xfrm>
            <a:off x="295275" y="3096889"/>
            <a:ext cx="1160145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Obrigado</a:t>
            </a:r>
            <a:endParaRPr dirty="0"/>
          </a:p>
        </p:txBody>
      </p:sp>
      <p:sp>
        <p:nvSpPr>
          <p:cNvPr id="245" name="Google Shape;245;p24"/>
          <p:cNvSpPr/>
          <p:nvPr/>
        </p:nvSpPr>
        <p:spPr>
          <a:xfrm>
            <a:off x="5619750" y="4014638"/>
            <a:ext cx="952500" cy="381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4"/>
          <p:cNvSpPr txBox="1"/>
          <p:nvPr/>
        </p:nvSpPr>
        <p:spPr>
          <a:xfrm>
            <a:off x="571500" y="4624238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Apresentação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 SCADA E-Lounge UFPE</a:t>
            </a:r>
            <a:endParaRPr dirty="0"/>
          </a:p>
        </p:txBody>
      </p:sp>
      <p:sp>
        <p:nvSpPr>
          <p:cNvPr id="247" name="Google Shape;247;p24"/>
          <p:cNvSpPr txBox="1"/>
          <p:nvPr/>
        </p:nvSpPr>
        <p:spPr>
          <a:xfrm>
            <a:off x="571500" y="5310038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Maio de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</Words>
  <Application>Microsoft Office PowerPoint</Application>
  <PresentationFormat>Widescreen</PresentationFormat>
  <Paragraphs>76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Calibri</vt:lpstr>
      <vt:lpstr>DM Sans</vt:lpstr>
      <vt:lpstr>DM Sans Medium</vt:lpstr>
      <vt:lpstr>Arial</vt:lpstr>
      <vt:lpstr>Merriweather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julius</dc:creator>
  <cp:lastModifiedBy>Julius Romanzeira</cp:lastModifiedBy>
  <cp:revision>1</cp:revision>
  <dcterms:modified xsi:type="dcterms:W3CDTF">2026-05-08T10:48:33Z</dcterms:modified>
</cp:coreProperties>
</file>